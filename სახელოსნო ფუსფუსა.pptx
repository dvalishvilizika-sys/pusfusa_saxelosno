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Noto Sans Georgian Medium"/>
      <p:regular r:id="rId28"/>
      <p:bold r:id="rId29"/>
    </p:embeddedFont>
    <p:embeddedFont>
      <p:font typeface="Noto Sans Georgian"/>
      <p:regular r:id="rId30"/>
      <p:bold r:id="rId31"/>
    </p:embeddedFont>
    <p:embeddedFont>
      <p:font typeface="Noto Sans Symbols"/>
      <p:regular r:id="rId32"/>
      <p:bold r:id="rId33"/>
    </p:embeddedFont>
    <p:embeddedFont>
      <p:font typeface="Comforta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otoSansGeorgianMedium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otoSansGeorgian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otoSansGeorgian-bold.fntdata"/><Relationship Id="rId30" Type="http://schemas.openxmlformats.org/officeDocument/2006/relationships/font" Target="fonts/NotoSansGeorgian-regular.fntdata"/><Relationship Id="rId11" Type="http://schemas.openxmlformats.org/officeDocument/2006/relationships/slide" Target="slides/slide6.xml"/><Relationship Id="rId33" Type="http://schemas.openxmlformats.org/officeDocument/2006/relationships/font" Target="fonts/NotoSansSymbols-bold.fntdata"/><Relationship Id="rId10" Type="http://schemas.openxmlformats.org/officeDocument/2006/relationships/slide" Target="slides/slide5.xml"/><Relationship Id="rId32" Type="http://schemas.openxmlformats.org/officeDocument/2006/relationships/font" Target="fonts/NotoSansSymbols-regular.fntdata"/><Relationship Id="rId13" Type="http://schemas.openxmlformats.org/officeDocument/2006/relationships/slide" Target="slides/slide8.xml"/><Relationship Id="rId35" Type="http://schemas.openxmlformats.org/officeDocument/2006/relationships/font" Target="fonts/Comfortaa-bold.fntdata"/><Relationship Id="rId12" Type="http://schemas.openxmlformats.org/officeDocument/2006/relationships/slide" Target="slides/slide7.xml"/><Relationship Id="rId34" Type="http://schemas.openxmlformats.org/officeDocument/2006/relationships/font" Target="fonts/Comforta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bb7e2527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fbb7e25275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bb7e2527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fbb7e25275_1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bb7e25275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fbb7e25275_1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bb7e25275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fbb7e25275_1_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bb7e25275_3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fbb7e25275_34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8eb6815d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f8eb6815de_0_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8eb6815d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g3f8eb6815de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b7e25275_34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g3fbb7e25275_34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bb7e25275_34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3fbb7e25275_34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bb7e25275_34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fbb7e25275_34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bb7e25275_34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g3fbb7e25275_34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8eb6815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g3f8eb6815d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bb7e25275_34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g3fbb7e25275_34_2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bb7e25275_34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5" name="Google Shape;485;g3fbb7e25275_34_2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3f011fa527fec8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h3f011fa527fec8fe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fbb7e25275_34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4" name="Google Shape;534;g3fbb7e25275_34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2.png"/><Relationship Id="rId13" Type="http://schemas.openxmlformats.org/officeDocument/2006/relationships/image" Target="../media/image19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15" Type="http://schemas.openxmlformats.org/officeDocument/2006/relationships/image" Target="../media/image36.png"/><Relationship Id="rId1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36.png"/><Relationship Id="rId11" Type="http://schemas.openxmlformats.org/officeDocument/2006/relationships/image" Target="../media/image24.png"/><Relationship Id="rId10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3.png"/><Relationship Id="rId15" Type="http://schemas.openxmlformats.org/officeDocument/2006/relationships/image" Target="../media/image13.png"/><Relationship Id="rId14" Type="http://schemas.openxmlformats.org/officeDocument/2006/relationships/image" Target="../media/image16.png"/><Relationship Id="rId17" Type="http://schemas.openxmlformats.org/officeDocument/2006/relationships/image" Target="../media/image23.png"/><Relationship Id="rId16" Type="http://schemas.openxmlformats.org/officeDocument/2006/relationships/image" Target="../media/image27.png"/><Relationship Id="rId5" Type="http://schemas.openxmlformats.org/officeDocument/2006/relationships/image" Target="../media/image15.png"/><Relationship Id="rId19" Type="http://schemas.openxmlformats.org/officeDocument/2006/relationships/image" Target="../media/image28.png"/><Relationship Id="rId6" Type="http://schemas.openxmlformats.org/officeDocument/2006/relationships/image" Target="../media/image30.png"/><Relationship Id="rId18" Type="http://schemas.openxmlformats.org/officeDocument/2006/relationships/image" Target="../media/image26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3" Type="http://schemas.openxmlformats.org/officeDocument/2006/relationships/image" Target="../media/image37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9" Type="http://schemas.openxmlformats.org/officeDocument/2006/relationships/image" Target="../media/image22.png"/><Relationship Id="rId15" Type="http://schemas.openxmlformats.org/officeDocument/2006/relationships/image" Target="../media/image36.png"/><Relationship Id="rId14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2.png"/><Relationship Id="rId7" Type="http://schemas.openxmlformats.org/officeDocument/2006/relationships/image" Target="../media/image29.png"/><Relationship Id="rId8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.png"/><Relationship Id="rId7" Type="http://schemas.openxmlformats.org/officeDocument/2006/relationships/image" Target="../media/image29.png"/><Relationship Id="rId8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33.png"/><Relationship Id="rId13" Type="http://schemas.openxmlformats.org/officeDocument/2006/relationships/image" Target="../media/image58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7.png"/><Relationship Id="rId9" Type="http://schemas.openxmlformats.org/officeDocument/2006/relationships/image" Target="../media/image22.png"/><Relationship Id="rId15" Type="http://schemas.openxmlformats.org/officeDocument/2006/relationships/image" Target="../media/image36.png"/><Relationship Id="rId14" Type="http://schemas.openxmlformats.org/officeDocument/2006/relationships/image" Target="../media/image40.png"/><Relationship Id="rId5" Type="http://schemas.openxmlformats.org/officeDocument/2006/relationships/image" Target="../media/image35.png"/><Relationship Id="rId6" Type="http://schemas.openxmlformats.org/officeDocument/2006/relationships/image" Target="../media/image2.png"/><Relationship Id="rId7" Type="http://schemas.openxmlformats.org/officeDocument/2006/relationships/image" Target="../media/image44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8.png"/><Relationship Id="rId13" Type="http://schemas.openxmlformats.org/officeDocument/2006/relationships/image" Target="../media/image54.pn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56.png"/><Relationship Id="rId9" Type="http://schemas.openxmlformats.org/officeDocument/2006/relationships/image" Target="../media/image49.png"/><Relationship Id="rId15" Type="http://schemas.openxmlformats.org/officeDocument/2006/relationships/image" Target="../media/image36.png"/><Relationship Id="rId14" Type="http://schemas.openxmlformats.org/officeDocument/2006/relationships/image" Target="../media/image52.png"/><Relationship Id="rId5" Type="http://schemas.openxmlformats.org/officeDocument/2006/relationships/image" Target="../media/image42.png"/><Relationship Id="rId6" Type="http://schemas.openxmlformats.org/officeDocument/2006/relationships/image" Target="../media/image50.png"/><Relationship Id="rId7" Type="http://schemas.openxmlformats.org/officeDocument/2006/relationships/image" Target="../media/image64.png"/><Relationship Id="rId8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6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62.png"/><Relationship Id="rId9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Relationship Id="rId8" Type="http://schemas.openxmlformats.org/officeDocument/2006/relationships/image" Target="../media/image66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9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5.png"/><Relationship Id="rId9" Type="http://schemas.openxmlformats.org/officeDocument/2006/relationships/image" Target="../media/image51.png"/><Relationship Id="rId5" Type="http://schemas.openxmlformats.org/officeDocument/2006/relationships/image" Target="../media/image78.png"/><Relationship Id="rId6" Type="http://schemas.openxmlformats.org/officeDocument/2006/relationships/image" Target="../media/image73.png"/><Relationship Id="rId7" Type="http://schemas.openxmlformats.org/officeDocument/2006/relationships/image" Target="../media/image53.png"/><Relationship Id="rId8" Type="http://schemas.openxmlformats.org/officeDocument/2006/relationships/image" Target="../media/image86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6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9.png"/><Relationship Id="rId9" Type="http://schemas.openxmlformats.org/officeDocument/2006/relationships/image" Target="../media/image84.png"/><Relationship Id="rId5" Type="http://schemas.openxmlformats.org/officeDocument/2006/relationships/image" Target="../media/image56.png"/><Relationship Id="rId6" Type="http://schemas.openxmlformats.org/officeDocument/2006/relationships/image" Target="../media/image74.png"/><Relationship Id="rId7" Type="http://schemas.openxmlformats.org/officeDocument/2006/relationships/image" Target="../media/image53.png"/><Relationship Id="rId8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6.png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3" Type="http://schemas.openxmlformats.org/officeDocument/2006/relationships/image" Target="../media/image48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8.png"/><Relationship Id="rId9" Type="http://schemas.openxmlformats.org/officeDocument/2006/relationships/image" Target="../media/image53.png"/><Relationship Id="rId15" Type="http://schemas.openxmlformats.org/officeDocument/2006/relationships/image" Target="../media/image91.png"/><Relationship Id="rId14" Type="http://schemas.openxmlformats.org/officeDocument/2006/relationships/image" Target="../media/image94.png"/><Relationship Id="rId17" Type="http://schemas.openxmlformats.org/officeDocument/2006/relationships/image" Target="../media/image76.png"/><Relationship Id="rId16" Type="http://schemas.openxmlformats.org/officeDocument/2006/relationships/image" Target="../media/image83.png"/><Relationship Id="rId5" Type="http://schemas.openxmlformats.org/officeDocument/2006/relationships/image" Target="../media/image77.png"/><Relationship Id="rId19" Type="http://schemas.openxmlformats.org/officeDocument/2006/relationships/image" Target="../media/image82.png"/><Relationship Id="rId6" Type="http://schemas.openxmlformats.org/officeDocument/2006/relationships/image" Target="../media/image87.png"/><Relationship Id="rId18" Type="http://schemas.openxmlformats.org/officeDocument/2006/relationships/image" Target="../media/image85.png"/><Relationship Id="rId7" Type="http://schemas.openxmlformats.org/officeDocument/2006/relationships/image" Target="../media/image56.png"/><Relationship Id="rId8" Type="http://schemas.openxmlformats.org/officeDocument/2006/relationships/image" Target="../media/image79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6.png"/><Relationship Id="rId9" Type="http://schemas.openxmlformats.org/officeDocument/2006/relationships/image" Target="../media/image93.png"/><Relationship Id="rId5" Type="http://schemas.openxmlformats.org/officeDocument/2006/relationships/image" Target="../media/image109.png"/><Relationship Id="rId6" Type="http://schemas.openxmlformats.org/officeDocument/2006/relationships/image" Target="../media/image53.png"/><Relationship Id="rId7" Type="http://schemas.openxmlformats.org/officeDocument/2006/relationships/image" Target="../media/image95.png"/><Relationship Id="rId8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92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90.png"/><Relationship Id="rId9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Relationship Id="rId8" Type="http://schemas.openxmlformats.org/officeDocument/2006/relationships/image" Target="../media/image64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102.png"/><Relationship Id="rId13" Type="http://schemas.openxmlformats.org/officeDocument/2006/relationships/image" Target="../media/image9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03.png"/><Relationship Id="rId9" Type="http://schemas.openxmlformats.org/officeDocument/2006/relationships/image" Target="../media/image51.png"/><Relationship Id="rId5" Type="http://schemas.openxmlformats.org/officeDocument/2006/relationships/image" Target="../media/image56.png"/><Relationship Id="rId6" Type="http://schemas.openxmlformats.org/officeDocument/2006/relationships/image" Target="../media/image97.png"/><Relationship Id="rId7" Type="http://schemas.openxmlformats.org/officeDocument/2006/relationships/image" Target="../media/image53.png"/><Relationship Id="rId8" Type="http://schemas.openxmlformats.org/officeDocument/2006/relationships/image" Target="../media/image95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0.png"/><Relationship Id="rId10" Type="http://schemas.openxmlformats.org/officeDocument/2006/relationships/image" Target="../media/image6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04.png"/><Relationship Id="rId9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116.png"/><Relationship Id="rId7" Type="http://schemas.openxmlformats.org/officeDocument/2006/relationships/image" Target="../media/image53.png"/><Relationship Id="rId8" Type="http://schemas.openxmlformats.org/officeDocument/2006/relationships/image" Target="../media/image64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53.png"/><Relationship Id="rId13" Type="http://schemas.openxmlformats.org/officeDocument/2006/relationships/image" Target="../media/image49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07.png"/><Relationship Id="rId9" Type="http://schemas.openxmlformats.org/officeDocument/2006/relationships/image" Target="../media/image105.png"/><Relationship Id="rId15" Type="http://schemas.openxmlformats.org/officeDocument/2006/relationships/image" Target="../media/image106.png"/><Relationship Id="rId14" Type="http://schemas.openxmlformats.org/officeDocument/2006/relationships/image" Target="../media/image112.png"/><Relationship Id="rId17" Type="http://schemas.openxmlformats.org/officeDocument/2006/relationships/image" Target="../media/image36.png"/><Relationship Id="rId16" Type="http://schemas.openxmlformats.org/officeDocument/2006/relationships/image" Target="../media/image111.png"/><Relationship Id="rId5" Type="http://schemas.openxmlformats.org/officeDocument/2006/relationships/image" Target="../media/image108.png"/><Relationship Id="rId19" Type="http://schemas.openxmlformats.org/officeDocument/2006/relationships/image" Target="../media/image115.png"/><Relationship Id="rId6" Type="http://schemas.openxmlformats.org/officeDocument/2006/relationships/image" Target="../media/image101.png"/><Relationship Id="rId18" Type="http://schemas.openxmlformats.org/officeDocument/2006/relationships/image" Target="../media/image114.png"/><Relationship Id="rId7" Type="http://schemas.openxmlformats.org/officeDocument/2006/relationships/image" Target="../media/image110.png"/><Relationship Id="rId8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53.png"/><Relationship Id="rId13" Type="http://schemas.openxmlformats.org/officeDocument/2006/relationships/image" Target="../media/image49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07.png"/><Relationship Id="rId9" Type="http://schemas.openxmlformats.org/officeDocument/2006/relationships/image" Target="../media/image105.png"/><Relationship Id="rId15" Type="http://schemas.openxmlformats.org/officeDocument/2006/relationships/image" Target="../media/image106.png"/><Relationship Id="rId14" Type="http://schemas.openxmlformats.org/officeDocument/2006/relationships/image" Target="../media/image112.png"/><Relationship Id="rId17" Type="http://schemas.openxmlformats.org/officeDocument/2006/relationships/image" Target="../media/image36.png"/><Relationship Id="rId16" Type="http://schemas.openxmlformats.org/officeDocument/2006/relationships/image" Target="../media/image111.png"/><Relationship Id="rId5" Type="http://schemas.openxmlformats.org/officeDocument/2006/relationships/image" Target="../media/image108.png"/><Relationship Id="rId19" Type="http://schemas.openxmlformats.org/officeDocument/2006/relationships/image" Target="../media/image120.png"/><Relationship Id="rId6" Type="http://schemas.openxmlformats.org/officeDocument/2006/relationships/image" Target="../media/image101.png"/><Relationship Id="rId18" Type="http://schemas.openxmlformats.org/officeDocument/2006/relationships/image" Target="../media/image119.png"/><Relationship Id="rId7" Type="http://schemas.openxmlformats.org/officeDocument/2006/relationships/image" Target="../media/image110.png"/><Relationship Id="rId8" Type="http://schemas.openxmlformats.org/officeDocument/2006/relationships/image" Target="../media/image5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8.png"/><Relationship Id="rId4" Type="http://schemas.openxmlformats.org/officeDocument/2006/relationships/image" Target="../media/image117.png"/><Relationship Id="rId5" Type="http://schemas.openxmlformats.org/officeDocument/2006/relationships/image" Target="../media/image113.png"/><Relationship Id="rId6" Type="http://schemas.openxmlformats.org/officeDocument/2006/relationships/image" Target="../media/image121.png"/><Relationship Id="rId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95125" y="4132125"/>
            <a:ext cx="1084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ვუფრთხილდებით, ვზრუნავთ ვქმნით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732452" y="5233842"/>
            <a:ext cx="872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ხელსაქმისა და ტექნოლოგიების საგანმანათლებლო სინთეზი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6710" y="966025"/>
            <a:ext cx="2618481" cy="261848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394527" y="163790"/>
            <a:ext cx="431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არაფორმალური განათლება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36C09"/>
                </a:solidFill>
                <a:latin typeface="Arial"/>
                <a:ea typeface="Arial"/>
                <a:cs typeface="Arial"/>
                <a:sym typeface="Arial"/>
              </a:rPr>
              <a:t>დედამიწა, როგორც ერთიანი ორგანიზმი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096000" y="15367"/>
            <a:ext cx="609600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925" y="1107150"/>
            <a:ext cx="4496151" cy="4496151"/>
          </a:xfrm>
          <a:prstGeom prst="rect">
            <a:avLst/>
          </a:prstGeom>
          <a:noFill/>
          <a:ln>
            <a:noFill/>
          </a:ln>
          <a:effectLst>
            <a:outerShdw blurRad="857250" rotWithShape="0" algn="bl" dir="12540000" dist="428625">
              <a:srgbClr val="93C47D"/>
            </a:outerShdw>
          </a:effectLst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9500" y="1196300"/>
            <a:ext cx="4831025" cy="4496151"/>
          </a:xfrm>
          <a:prstGeom prst="rect">
            <a:avLst/>
          </a:prstGeom>
          <a:noFill/>
          <a:ln>
            <a:noFill/>
          </a:ln>
          <a:effectLst>
            <a:outerShdw blurRad="857250" rotWithShape="0" algn="bl" dir="12540000" dist="428625">
              <a:srgbClr val="93C47D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609600" y="1866725"/>
            <a:ext cx="5257800" cy="4381500"/>
          </a:xfrm>
          <a:prstGeom prst="roundRect">
            <a:avLst>
              <a:gd fmla="val 4848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700">
                <a:solidFill>
                  <a:schemeClr val="dk1"/>
                </a:solidFill>
              </a:rPr>
              <a:t>🌱 ფუსფუსა დედამიწა (რეალური სამყაროს აღმოჩენა)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ბავშვები უბრუნდებიან ნამდვილ თამაშს, ეკო-დაკვირვებებსა და მზრუნველობას.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მებაღეობა, თიხითა-პლასტელინი და ქსოვილებით მუშაობა ავითარებს ფანტაზიას და ნატიფ მოტორიკას.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ბუნებაზე დაკვირვებით (მაგალითად, ფუტკრების ცხოვრება), ბავშვები სწავლობენ თანამშრომლობასა და ეკო-ემპათიას.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324600" y="1774475"/>
            <a:ext cx="5257800" cy="4473900"/>
          </a:xfrm>
          <a:prstGeom prst="roundRect">
            <a:avLst>
              <a:gd fmla="val 4848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💡 ფუსფუსა ტექნოლოგიები (გონივრული ციფრული სივრცე)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პასიური გართობისა (TikTok, Roblox) და ეკრანზე მიჯაჭვულობის ნაცვლად, ბავშვები თავად ხდებიან დეველოპერები და კრეატორები.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რობოტიკა, კოდინგი და AI გამოიყენება როგორც რეალური პრობლემების გადასაჭრელი ხელსაწყო.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ტექნოლოგია ეხმარება ბუნებას — მაგალითად, ბავშვები თავად ქმნიან მიკრობიტის სენსორებს მცენარეების მოსავლელად.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353740" y="1574222"/>
            <a:ext cx="782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300" u="none" cap="none" strike="noStrike">
                <a:solidFill>
                  <a:srgbClr val="0F172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სახელოსნოს მი</a:t>
            </a:r>
            <a:r>
              <a:rPr lang="en-US" sz="2300">
                <a:solidFill>
                  <a:srgbClr val="0F172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სია:</a:t>
            </a:r>
            <a:endParaRPr sz="1000"/>
          </a:p>
        </p:txBody>
      </p:sp>
      <p:sp>
        <p:nvSpPr>
          <p:cNvPr id="103" name="Google Shape;103;p15"/>
          <p:cNvSpPr txBox="1"/>
          <p:nvPr/>
        </p:nvSpPr>
        <p:spPr>
          <a:xfrm>
            <a:off x="715075" y="311650"/>
            <a:ext cx="945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სახელოსნო „ფუსფუსა“ — სივრცე, სადაც დრო პროდუქტიულია </a:t>
            </a:r>
            <a:endParaRPr b="1" sz="2600"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2697" y="174618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-2" y="478094"/>
            <a:ext cx="1203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ვორქშოფი „ფუსფუ</a:t>
            </a:r>
            <a:r>
              <a:rPr b="1" lang="en-US" sz="3600">
                <a:solidFill>
                  <a:srgbClr val="FF990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</a:t>
            </a:r>
            <a:r>
              <a:rPr b="1" i="0" lang="en-US" sz="3600" u="none" cap="none" strike="noStrike">
                <a:solidFill>
                  <a:srgbClr val="FF990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 ფუტკრები“</a:t>
            </a:r>
            <a:endParaRPr b="1" sz="3600">
              <a:solidFill>
                <a:srgbClr val="FF9900"/>
              </a:solidFill>
            </a:endParaRPr>
          </a:p>
        </p:txBody>
      </p:sp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9574" y="3199525"/>
            <a:ext cx="3518951" cy="281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3194848" y="1300340"/>
            <a:ext cx="6972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შემოქმედებითი ვორქშოფის სრული პრაქტიკული გზამკვლევი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235050" y="2060725"/>
            <a:ext cx="1156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ვორქშოფის „ფუსფუსა ფუტკრები“ კომპლექსური </a:t>
            </a:r>
            <a:r>
              <a:rPr b="1" lang="en-US" sz="1800">
                <a:solidFill>
                  <a:schemeClr val="dk1"/>
                </a:solidFill>
              </a:rPr>
              <a:t>ეკო-ტექნოლოგიური</a:t>
            </a:r>
            <a:r>
              <a:rPr lang="en-US" sz="1800">
                <a:solidFill>
                  <a:schemeClr val="dk1"/>
                </a:solidFill>
              </a:rPr>
              <a:t> საგანმანათლებლო მოდელი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74201" y="3199513"/>
            <a:ext cx="73002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მიზანი და მიმართულებები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მთავარი მიზანი: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გარემოსდაცვითი ცნობიერების ამაღლება, მოტორიკის სტიმულირება და </a:t>
            </a:r>
            <a:r>
              <a:rPr b="1" lang="en-US" sz="1500">
                <a:solidFill>
                  <a:schemeClr val="dk1"/>
                </a:solidFill>
              </a:rPr>
              <a:t>ციფრული უნარების პრაქტიკული განვითარება</a:t>
            </a:r>
            <a:br>
              <a:rPr b="1" lang="en-US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მიმართულებები 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🌱 </a:t>
            </a:r>
            <a:r>
              <a:rPr b="1" lang="en-US" sz="1500">
                <a:solidFill>
                  <a:schemeClr val="dk1"/>
                </a:solidFill>
              </a:rPr>
              <a:t>პრაქტიკული ეკო-განათლება და ხელსაქმე</a:t>
            </a:r>
            <a:br>
              <a:rPr b="1" lang="en-US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chemeClr val="dk1"/>
                </a:solidFill>
              </a:rPr>
              <a:t>💡 </a:t>
            </a:r>
            <a:r>
              <a:rPr b="1" lang="en-US" sz="1500">
                <a:solidFill>
                  <a:schemeClr val="dk1"/>
                </a:solidFill>
              </a:rPr>
              <a:t>გამოყენებითი ტექნოლოგიები და კრეატიული კოდინგი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72697" y="191627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322925" y="615075"/>
            <a:ext cx="9598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როგორ ვმუშაობთ? (ვორქშოფის სტრუქტურა) </a:t>
            </a:r>
            <a:endParaRPr b="1" sz="2100"/>
          </a:p>
        </p:txBody>
      </p:sp>
      <p:sp>
        <p:nvSpPr>
          <p:cNvPr id="120" name="Google Shape;120;p17"/>
          <p:cNvSpPr txBox="1"/>
          <p:nvPr/>
        </p:nvSpPr>
        <p:spPr>
          <a:xfrm>
            <a:off x="322925" y="1805225"/>
            <a:ext cx="9949800" cy="49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🌱 </a:t>
            </a:r>
            <a:r>
              <a:rPr b="1" lang="en-US" sz="1500">
                <a:solidFill>
                  <a:schemeClr val="dk1"/>
                </a:solidFill>
              </a:rPr>
              <a:t>ნაბიჯი 1: თემის აღმოჩენა და ინფორმაციის მიღება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ფუსფუსა დედამიწა:</a:t>
            </a:r>
            <a:r>
              <a:rPr lang="en-US" sz="1500">
                <a:solidFill>
                  <a:schemeClr val="dk1"/>
                </a:solidFill>
              </a:rPr>
              <a:t> ვაწვდით ბავშვს კონკრეტული ეკო-თემის (მაგ. ფუტკრებისა და მცენარეების) ირგვლივ ინფორმაციას.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ფუსფუსა ტექნოლოგიები:</a:t>
            </a:r>
            <a:r>
              <a:rPr lang="en-US" sz="1500">
                <a:solidFill>
                  <a:schemeClr val="dk1"/>
                </a:solidFill>
              </a:rPr>
              <a:t> ბავშვები ინტერნეტში, უსაფრთხო ძიების პრინციპებით, თავად ეძებენ ვიზუალურ მასალებს (მაგ. ყვავილებისა და ფიჭის ფოტოებს) მომავალი პროექტისთვის.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👐 </a:t>
            </a:r>
            <a:r>
              <a:rPr b="1" lang="en-US" sz="1500">
                <a:solidFill>
                  <a:schemeClr val="dk1"/>
                </a:solidFill>
              </a:rPr>
              <a:t>ნაბიჯი 2: ფიზიკური მოდელირება და ნატიფი მოტორიკა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ფუსფუსა დედამიწა:</a:t>
            </a:r>
            <a:r>
              <a:rPr lang="en-US" sz="1500">
                <a:solidFill>
                  <a:schemeClr val="dk1"/>
                </a:solidFill>
              </a:rPr>
              <a:t> ბავშვი ქმნის მიღებული ინფორმაციის შესაბამის მოდელებს (მაგ. თიხის ქოთანი, პლასტილინის ფუტკარი) საკუთარი ფანტაზიითა და ხელით.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ფუსფუსა ტექნოლოგიები:</a:t>
            </a:r>
            <a:r>
              <a:rPr lang="en-US" sz="1500">
                <a:solidFill>
                  <a:schemeClr val="dk1"/>
                </a:solidFill>
              </a:rPr>
              <a:t> ფიზიკურ ნივთებს ვუმატებთ სიცოცხლეს — ვაწყობთ მიკრობიტის ტენიანობის სენსორს ჩვენ მიერ დარგული მცენარისთვის.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🎬  </a:t>
            </a:r>
            <a:r>
              <a:rPr b="1" lang="en-US" sz="1500">
                <a:solidFill>
                  <a:schemeClr val="dk1"/>
                </a:solidFill>
              </a:rPr>
              <a:t>ნაბიჯი 3: შემოქმედება და გაციფრულება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ფუსფუსა დედამიწა:</a:t>
            </a:r>
            <a:r>
              <a:rPr lang="en-US" sz="1500">
                <a:solidFill>
                  <a:schemeClr val="dk1"/>
                </a:solidFill>
              </a:rPr>
              <a:t> ბავშვები თავად იგონებენ თავიანთი პერსონაჟების (პლასტილინის ფუტკრების) ზღაპრის სცენარს.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ფუსფუსა ტექნოლოგიები:</a:t>
            </a:r>
            <a:r>
              <a:rPr lang="en-US" sz="1500">
                <a:solidFill>
                  <a:schemeClr val="dk1"/>
                </a:solidFill>
              </a:rPr>
              <a:t> ტექნოლოგიების დახმარებით ვახდენთ შექმნილი პერსონაჟებისა და ზღაპრის გაციფრულებას, ანიმირებას და ხმოვან გახმოვანებას.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9775" y="2860075"/>
            <a:ext cx="2625051" cy="262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72697" y="174618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0282"/>
            <a:ext cx="5143500" cy="3449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810046"/>
            <a:ext cx="5143500" cy="3449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1266825" y="453308"/>
            <a:ext cx="97767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არაფორმალური განათლება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სასიცოცხლო ციკლი</a:t>
            </a:r>
            <a:endParaRPr b="1" i="0" sz="255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762000" y="6100762"/>
            <a:ext cx="1311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თეორიული კომპონენტი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2" name="Google Shape;13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5312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43787" y="6067425"/>
            <a:ext cx="647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05787" y="6067425"/>
            <a:ext cx="54768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67775" y="6067425"/>
            <a:ext cx="704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86925" y="6067425"/>
            <a:ext cx="704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06075" y="6067425"/>
            <a:ext cx="923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1362075" y="2085082"/>
            <a:ext cx="4400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ფუტკრების საიდუმლო ცხოვრება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934200" y="2085082"/>
            <a:ext cx="4350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დამტვერვის ჯაჭვი და ეკოლოგია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0" name="Google Shape;140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14425" y="2099369"/>
            <a:ext cx="152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1381125" y="2456557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სოციალური იერარქია: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როგორ მუშაობს სკა როგორც ერთიანი ორგანიზმი და რა ფუნქციები აქვთ დედოფალს, მუშებსა და მამლებს.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381125" y="3279427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პროფესიული ევოლუცია: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როგორ იცვლის მუშა ფუტკარი პროფესიას ასაკის მატებასთან ერთად (მწმენდავიდან მზვერავამდე).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381125" y="4102298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განვითარების ციკლი: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მეტამორფოზის ეტაპების გააზრება ვიზუალურ მაგალითებზე: </a:t>
            </a:r>
            <a:r>
              <a:rPr b="1" i="0" lang="en-US" sz="1162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კვერცხი → ლარვა → ჭუპრი → ფუტკარი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4" name="Google Shape;144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38925" y="2099369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6905625" y="2456557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მცენარეთა გამრავლება: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ბიოლოგიური მექანიზმის გააზრება — როგორ გადააქვთ მწერებს მტვერი ყვავილიდან ყვავილზე.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6905625" y="3413373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ნექტარი და მტვერი: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საკვები რესურსების როლი ფუტკრის ცხოვრებაში და მათი ურთიერთკავშირი ფლორასთან.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905625" y="4274742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ბიომრავალფეროვნება: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იმ რეალური ეკოლოგიური გავლენის გაცნობიერება, რაც ფუტკრებს მოაქვთ დედამიწის სიცოცხლისათვის.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1114425" y="2456557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1114425" y="3279427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114425" y="4102298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638925" y="2456557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700837" y="4274742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661367" y="3411065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762000" y="108585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272697" y="174618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876" y="1150152"/>
            <a:ext cx="3086422" cy="2710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663" y="1121808"/>
            <a:ext cx="3122847" cy="2710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9292" y="1173465"/>
            <a:ext cx="3140458" cy="2710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1266825" y="571500"/>
            <a:ext cx="9235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პრაქტიკული და შემოქმედებითი უნარები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95312"/>
            <a:ext cx="3619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43787" y="6067425"/>
            <a:ext cx="647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05787" y="6067425"/>
            <a:ext cx="52863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48725" y="6067425"/>
            <a:ext cx="7239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86925" y="6067425"/>
            <a:ext cx="704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06075" y="6067425"/>
            <a:ext cx="923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59941" y="1413092"/>
            <a:ext cx="528292" cy="52829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1075231" y="2117482"/>
            <a:ext cx="1497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7"/>
              <a:buFont typeface="Arial"/>
              <a:buNone/>
            </a:pPr>
            <a:r>
              <a:rPr b="1" i="0" lang="en-US" sz="1387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ნატიფი მოტორიკა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491589" y="2542694"/>
            <a:ext cx="26649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b="0" i="0" lang="en-US" sz="1005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ხელის მცირე კუნთებისა და კოორდინაციის განვითარება პლასტილინის დეტალური ძერწვისას, ფაქიზი ქსოვილებით მუშაობისას და ქოთნების ხელით მოხატვისას.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20521" y="1413092"/>
            <a:ext cx="528292" cy="5282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4352605" y="2117482"/>
            <a:ext cx="16641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7"/>
              <a:buFont typeface="Arial"/>
              <a:buNone/>
            </a:pPr>
            <a:r>
              <a:rPr b="1" i="0" lang="en-US" sz="1387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სივრცითი ინჟინერია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3852170" y="2542694"/>
            <a:ext cx="26649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b="0" i="0" lang="en-US" sz="1005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3D დიზაინისა და კონსტრუირების უნარი გეომეტრიული ექვსკუთხა ფიჭების აწყობისა და სკის საერთო მაკეტის შექმნის პროცესში.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81101" y="1491707"/>
            <a:ext cx="528292" cy="5282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736093" y="2165344"/>
            <a:ext cx="1790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7"/>
              <a:buFont typeface="Arial"/>
              <a:buNone/>
            </a:pPr>
            <a:r>
              <a:rPr b="1" i="0" lang="en-US" sz="1387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ფიზიკური გამოთვლა &amp; რობოტიკა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7212820" y="2750294"/>
            <a:ext cx="26649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005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მარტივი ალგორითმული აზროვნება და სენსორებთან მუშაობა: მიკრობიტის დაპროგრამება და ნიადაგის ტენიანობის ჭკვიანი სისტემის აწყობა. 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705221" y="1571580"/>
            <a:ext cx="237732" cy="21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065801" y="1571580"/>
            <a:ext cx="237732" cy="211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413174" y="1650195"/>
            <a:ext cx="264146" cy="21131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762000" y="108585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0272697" y="259663"/>
            <a:ext cx="1692124" cy="1692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6656" y="4012632"/>
            <a:ext cx="3122847" cy="2710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20514" y="4303917"/>
            <a:ext cx="528292" cy="52829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4352598" y="4885293"/>
            <a:ext cx="1664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7"/>
              <a:buFont typeface="Arial"/>
              <a:buNone/>
            </a:pPr>
            <a:r>
              <a:rPr b="1" lang="en-US" sz="1387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ციფრული თვითგამოხატვა &amp; პრეზენტაცია 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852163" y="5587285"/>
            <a:ext cx="2664900" cy="1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r>
              <a:rPr lang="en-US" sz="1005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შექმნილი პერსონაჟების გაციფრულება, ამბის ხმოვანი გახმოვანება და მშობლების წინაშე საკუთარი ნამუშევრების თავდაჯერებული წარდგენა. </a:t>
            </a:r>
            <a:endParaRPr b="0" i="0" sz="12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762000" y="6100762"/>
            <a:ext cx="2351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შემოქმედებითი და მოტორული აქტივობები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99" y="1898451"/>
            <a:ext cx="5172075" cy="3480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98451"/>
            <a:ext cx="5143500" cy="3480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1228725" y="571500"/>
            <a:ext cx="9216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სოციალურ-ემოციური კომპეტენციები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62000" y="6100762"/>
            <a:ext cx="2544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ფსიქო-ემოციური და სოციალური განვითარება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5312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43787" y="6067425"/>
            <a:ext cx="647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05787" y="6067425"/>
            <a:ext cx="52863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48725" y="6067425"/>
            <a:ext cx="704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67875" y="6067425"/>
            <a:ext cx="7239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06075" y="6067425"/>
            <a:ext cx="923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1457325" y="2203251"/>
            <a:ext cx="4300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თანამშრომლობა და გუნდურობა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934200" y="2203251"/>
            <a:ext cx="4350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ეკო-ემპათია </a:t>
            </a:r>
            <a:r>
              <a:rPr b="1" lang="en-US" sz="1575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და შიშის დაძლევა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14425" y="2217539"/>
            <a:ext cx="2476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1381125" y="2574726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კოლექტიური მიზანი: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სკის საერთო დიდი მაკეტის აწყობა ასწავლის ბავშვს, რომ დიდი საქმეები მხოლოდ გუნდური შრომით მიიღწევა.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381125" y="3397597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როლების განაწილება: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ფუტკრების მსგავსად საკუთარი როლის (მცველი, მუშა, მშენებელი) პოვნა და სხვების შრომის დაფასება.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381125" y="4283814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ემპათია და მხარდაჭერა: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ერთმანეთის დახმარება მასალების მომზადებისას და საზოგადოებრივი პასუხისმგებლობის გაცნობიერება.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38925" y="2217539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6905625" y="2574726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პოზიტიური კავშირი: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მწერების მიმართ არსებული ირაციონალური შიშის ჩანაცვლება ინტერესით, პატივისცემითა და მზრუნველობით.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905625" y="3397597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ზრუნვის კულტურა: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გარემოზე, მცენარეებსა და ცოცხალ არსებებზე ყოველდღიური ზრუნვის მნიშვნელობის გააზრება.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905625" y="4328742"/>
            <a:ext cx="4172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2"/>
              <a:buFont typeface="Arial"/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ბუნების მადლიერება: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გაცნობიერება, რომ ადამიანი ბუნების ნაწილია და ჩვენი ვალია დავიცვათ და გავამრავლოთ სიცოცხლე.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114425" y="2574726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114425" y="3397597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136085" y="4350196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638925" y="2574726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6638925" y="3397597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638925" y="4328742"/>
            <a:ext cx="12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243307" y="1098351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პიროვნული განვითარება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762000" y="108585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272697" y="174618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3647" y="113506"/>
            <a:ext cx="1692124" cy="1692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0871" y="1844203"/>
            <a:ext cx="9216900" cy="38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3067038" y="2286943"/>
            <a:ext cx="77961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rPr b="1" lang="en-US" sz="1957">
                <a:solidFill>
                  <a:schemeClr val="dk1"/>
                </a:solidFill>
              </a:rPr>
              <a:t>ციფრული ეთიკა და ცნობიერება</a:t>
            </a:r>
            <a:r>
              <a:rPr b="1" lang="en-US" sz="2486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0" i="0" sz="22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015833" y="2700124"/>
            <a:ext cx="74760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None/>
            </a:pPr>
            <a:r>
              <a:rPr b="1" lang="en-US" sz="1624">
                <a:solidFill>
                  <a:schemeClr val="dk1"/>
                </a:solidFill>
              </a:rPr>
              <a:t>შემქმნელის თვითშეგნება:</a:t>
            </a:r>
            <a:r>
              <a:rPr lang="en-US" sz="1624">
                <a:solidFill>
                  <a:schemeClr val="dk1"/>
                </a:solidFill>
              </a:rPr>
              <a:t> პასიური მომხმარებლიდან გამომგონებლისა და ციფრული შემოქმედის როლზე გადასვლა</a:t>
            </a:r>
            <a:endParaRPr b="0" i="0" sz="19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015833" y="3615380"/>
            <a:ext cx="74760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35"/>
              </a:spcBef>
              <a:spcAft>
                <a:spcPts val="1335"/>
              </a:spcAft>
              <a:buNone/>
            </a:pPr>
            <a:r>
              <a:rPr b="1" lang="en-US" sz="1624">
                <a:solidFill>
                  <a:schemeClr val="dk1"/>
                </a:solidFill>
              </a:rPr>
              <a:t>ტექნო-ეთიკა:</a:t>
            </a:r>
            <a:r>
              <a:rPr lang="en-US" sz="1624">
                <a:solidFill>
                  <a:schemeClr val="dk1"/>
                </a:solidFill>
              </a:rPr>
              <a:t> ხელოვნური ინტელექტისა და ინტერნეტის გააზრებული, უსაფრთხო და კეთილსინდისიერი გამოყენება.</a:t>
            </a:r>
            <a:endParaRPr b="0" i="0" sz="19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015833" y="4462466"/>
            <a:ext cx="74760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35"/>
              </a:spcBef>
              <a:spcAft>
                <a:spcPts val="1335"/>
              </a:spcAft>
              <a:buNone/>
            </a:pPr>
            <a:r>
              <a:rPr b="1" lang="en-US" sz="1624">
                <a:solidFill>
                  <a:schemeClr val="dk1"/>
                </a:solidFill>
              </a:rPr>
              <a:t>ციფრული ბალანსი:</a:t>
            </a:r>
            <a:r>
              <a:rPr lang="en-US" sz="1624">
                <a:solidFill>
                  <a:schemeClr val="dk1"/>
                </a:solidFill>
              </a:rPr>
              <a:t> ეკრანთან გატარებული დროის გაკონტროლება და რეალურ სამყაროსთან ჯანსაღი თანაცხოვრების ჩვევა.</a:t>
            </a:r>
            <a:endParaRPr b="0" i="0" sz="19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2537920" y="2700124"/>
            <a:ext cx="221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0" i="0" lang="en-US" sz="1335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5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2537920" y="3615380"/>
            <a:ext cx="221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0" i="0" lang="en-US" sz="1335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5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2537920" y="4651066"/>
            <a:ext cx="221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0" i="0" lang="en-US" sz="1335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5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7" name="Google Shape;23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8471" y="5715128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1228725" y="571500"/>
            <a:ext cx="9216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სოციალურ-ემოციური კომპეტენციები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6100762"/>
            <a:ext cx="2544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ფსიქო-ემოციური და სოციალური განვითარება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5312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43787" y="6067425"/>
            <a:ext cx="647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05787" y="6067425"/>
            <a:ext cx="52863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48725" y="6067425"/>
            <a:ext cx="704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67875" y="6067425"/>
            <a:ext cx="7239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06075" y="6067425"/>
            <a:ext cx="923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2356485" y="2582918"/>
            <a:ext cx="221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0" i="0" lang="en-US" sz="1335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5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356485" y="3498174"/>
            <a:ext cx="221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0" i="0" lang="en-US" sz="1335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5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2356485" y="4533860"/>
            <a:ext cx="2217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5"/>
              <a:buFont typeface="Arial"/>
              <a:buNone/>
            </a:pPr>
            <a:r>
              <a:rPr b="0" i="0" lang="en-US" sz="1335" u="none" cap="none" strike="noStrike">
                <a:solidFill>
                  <a:srgbClr val="F59E0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✦</a:t>
            </a:r>
            <a:endParaRPr b="0" i="0" sz="15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243307" y="1098351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პიროვნული განვითარება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762000" y="108585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999" y="2200274"/>
            <a:ext cx="5172075" cy="29416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00275"/>
            <a:ext cx="5143500" cy="2941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15025"/>
            <a:ext cx="106680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1152525" y="571500"/>
            <a:ext cx="9777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გრძელვადიანი ეფექტი და მოთმინება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762000" y="6100762"/>
            <a:ext cx="4321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გრძელვადიანი საგანმანათლებლო შედეგები და დაკავშირება სასწავლო წელთან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1" name="Google Shape;26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5312"/>
            <a:ext cx="2476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43787" y="6067425"/>
            <a:ext cx="647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05787" y="6067425"/>
            <a:ext cx="52863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48725" y="6067425"/>
            <a:ext cx="704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67875" y="6067425"/>
            <a:ext cx="7048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87025" y="6067425"/>
            <a:ext cx="942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1114425" y="2505075"/>
            <a:ext cx="4438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3+ თვე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1381125" y="3076575"/>
            <a:ext cx="4380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სისტემური მზრუნველობა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1114425" y="3590925"/>
            <a:ext cx="44388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ბავშვი სახლში მიაქვს თავისი ხელით მოხატული ქოთანი, სადაც დათესილია მზესუმზირა ან ლავანდა. ეს არ არის ერთჯერადი პროექტი — ეს არის 3-თვიანი საოჯახო ეკო-პასუხისმგებლობა, რომელიც ბავშვს ასწავლის მორწყვას, დაკვირვებასა და მზრუნველობას.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6638925" y="2505075"/>
            <a:ext cx="4438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75"/>
              <a:buFont typeface="Arial"/>
              <a:buNone/>
            </a:pPr>
            <a:r>
              <a:rPr b="1" i="0" lang="en-US" sz="3375" u="none" cap="none" strike="noStrike">
                <a:solidFill>
                  <a:srgbClr val="059669"/>
                </a:solidFill>
                <a:latin typeface="Comfortaa"/>
                <a:ea typeface="Comfortaa"/>
                <a:cs typeface="Comfortaa"/>
                <a:sym typeface="Comfortaa"/>
              </a:rPr>
              <a:t>სექტემბერი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6886575" y="3076575"/>
            <a:ext cx="44007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059669"/>
                </a:solidFill>
                <a:latin typeface="Comfortaa"/>
                <a:ea typeface="Comfortaa"/>
                <a:cs typeface="Comfortaa"/>
                <a:sym typeface="Comfortaa"/>
              </a:rPr>
              <a:t>პირველი ხელშესახები მიღწევა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6638925" y="3590925"/>
            <a:ext cx="44388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სკოლის გახსნისას ბავშვებს მოაქვთ თავიანთი გაზრდილი, აყვავებული მცენარეები. ეს პროცესი ბავშვს უვითარებს </a:t>
            </a:r>
            <a:r>
              <a:rPr b="1" i="0" lang="en-US" sz="1125" u="none" cap="none" strike="noStrike">
                <a:solidFill>
                  <a:srgbClr val="33415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მოთმინების უნარს</a:t>
            </a:r>
            <a:r>
              <a:rPr b="0" i="0" lang="en-US" sz="1125" u="none" cap="none" strike="noStrike">
                <a:solidFill>
                  <a:srgbClr val="33415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, ასწავლის შრომის ნაყოფის დაფასებას და უბიძგებს პირველი, რეალური და ხელშესახები ეკო-მიღწევის სიამაყისკენ.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3" name="Google Shape;273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14425" y="3090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38925" y="3090862"/>
            <a:ext cx="1524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1152525" y="1162050"/>
            <a:ext cx="96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ზაფხულის მისია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762000" y="108585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272697" y="174618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1266825" y="571500"/>
            <a:ext cx="4340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ვორქშოფის დღის წესრიგი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762000" y="6100762"/>
            <a:ext cx="1238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პროგრამის მიმოხილვა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6" name="Google Shape;28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5312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/>
          <p:nvPr/>
        </p:nvSpPr>
        <p:spPr>
          <a:xfrm>
            <a:off x="762000" y="3406229"/>
            <a:ext cx="10668000" cy="38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8" name="Google Shape;28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6175" y="6057900"/>
            <a:ext cx="8191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2020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012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82300" y="6057900"/>
            <a:ext cx="647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35298" y="2929979"/>
            <a:ext cx="10001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/>
          <p:nvPr/>
        </p:nvSpPr>
        <p:spPr>
          <a:xfrm>
            <a:off x="1821060" y="33014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703328" y="3672929"/>
            <a:ext cx="246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762000" y="3968204"/>
            <a:ext cx="23469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ფუტკრების სასიცოცხლო ციკლი, პერსონაჟის ძერწვა და ვიზუალური მასალების ციფრული ძიება.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13770" y="2929979"/>
            <a:ext cx="9906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/>
          <p:nvPr/>
        </p:nvSpPr>
        <p:spPr>
          <a:xfrm>
            <a:off x="4594770" y="33014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3477037" y="3672929"/>
            <a:ext cx="246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3535709" y="3968204"/>
            <a:ext cx="2346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დამტვერვის როლური თამაში და სამუშაო ციფრული გარემოს (პროგრამების) გაცნობა.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1" name="Google Shape;301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92242" y="2929979"/>
            <a:ext cx="981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/>
          <p:nvPr/>
        </p:nvSpPr>
        <p:spPr>
          <a:xfrm>
            <a:off x="7368480" y="33014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 txBox="1"/>
          <p:nvPr/>
        </p:nvSpPr>
        <p:spPr>
          <a:xfrm>
            <a:off x="6250747" y="3672929"/>
            <a:ext cx="246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შესვენება &amp; III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3"/>
          <p:cNvSpPr txBox="1"/>
          <p:nvPr/>
        </p:nvSpPr>
        <p:spPr>
          <a:xfrm>
            <a:off x="6309419" y="3968204"/>
            <a:ext cx="2346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მებაღეობა (ქოთნის მოხატვა, თესვა) და ტექნოლოგიური ანბანის (MakeCode) გაცნობა.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5" name="Google Shape;305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65952" y="2929979"/>
            <a:ext cx="981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/>
          <p:nvPr/>
        </p:nvSpPr>
        <p:spPr>
          <a:xfrm>
            <a:off x="10142190" y="33014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9024457" y="3672929"/>
            <a:ext cx="2464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3"/>
          <p:cNvSpPr txBox="1"/>
          <p:nvPr/>
        </p:nvSpPr>
        <p:spPr>
          <a:xfrm>
            <a:off x="9083129" y="3968204"/>
            <a:ext cx="2346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სკის მაკეტი, ზღაპრის გაციფრულება-გახმოვანება, გამოფენა და დაჯილდოება.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5350571" y="2187029"/>
            <a:ext cx="602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ეტაპობრივი გეგმა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762000" y="121920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514725"/>
            <a:ext cx="1143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58475" y="5715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/>
        </p:nvSpPr>
        <p:spPr>
          <a:xfrm>
            <a:off x="495300" y="1198725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59E0B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4"/>
          <p:cNvSpPr txBox="1"/>
          <p:nvPr/>
        </p:nvSpPr>
        <p:spPr>
          <a:xfrm>
            <a:off x="382350" y="2028663"/>
            <a:ext cx="1120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ფუტკრების საიდუმლო საზოგადოება და ციფრული ძიება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1433100" y="3793150"/>
            <a:ext cx="953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</a:rPr>
              <a:t>გუნდურობის არსის აღმოჩენა, სკის იერარქიის გაცნობა, როლების გადანაწილება, პირველი პერსონაჟის შექმნა და ინტერნეტში დამატებითი </a:t>
            </a:r>
            <a:r>
              <a:rPr b="1" lang="en-US" sz="1800">
                <a:solidFill>
                  <a:srgbClr val="666666"/>
                </a:solidFill>
              </a:rPr>
              <a:t>ინფორმაციის უსაფრთხო ძიება</a:t>
            </a:r>
            <a:r>
              <a:rPr lang="en-US" sz="1800">
                <a:solidFill>
                  <a:srgbClr val="666666"/>
                </a:solidFill>
              </a:rPr>
              <a:t>. </a:t>
            </a:r>
            <a:endParaRPr sz="2100">
              <a:solidFill>
                <a:srgbClr val="666666"/>
              </a:solidFill>
            </a:endParaRPr>
          </a:p>
        </p:txBody>
      </p:sp>
      <p:pic>
        <p:nvPicPr>
          <p:cNvPr descr="image.png" id="322" name="Google Shape;32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2020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82300" y="6057900"/>
            <a:ext cx="647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762000" y="571500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პირველი ეტაპი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</a:t>
            </a: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60 წუთი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762000" y="885825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72697" y="2596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00" y="1758950"/>
            <a:ext cx="5095875" cy="135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50814"/>
            <a:ext cx="5095875" cy="363259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1306875" y="571500"/>
            <a:ext cx="51207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1: აქტივობები &amp; ციკლი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37" name="Google Shape;3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5312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2020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82300" y="6057900"/>
            <a:ext cx="647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 txBox="1"/>
          <p:nvPr/>
        </p:nvSpPr>
        <p:spPr>
          <a:xfrm>
            <a:off x="410980" y="1758934"/>
            <a:ext cx="471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თეორია &amp; მიღება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6638925" y="2330946"/>
            <a:ext cx="471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აქტივობა 1: ჩემი ფუტკარი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5"/>
          <p:cNvSpPr txBox="1"/>
          <p:nvPr/>
        </p:nvSpPr>
        <p:spPr>
          <a:xfrm>
            <a:off x="6638925" y="2892921"/>
            <a:ext cx="44862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ბავშვები იღებენ ყვითელ და შავ პლასტილინს, ძერწავენ ფუტკრის ტანს, ზოლებსა და თვალებს. ფრთებად ვიყენებთ თხელ გამჭვირვალე ლენტებს.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"/>
          <p:cNvSpPr txBox="1"/>
          <p:nvPr/>
        </p:nvSpPr>
        <p:spPr>
          <a:xfrm>
            <a:off x="6638925" y="4138165"/>
            <a:ext cx="44862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შედეგი: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თითოეულ მონაწილეს ხელში ჰყავს საკუთარი უნიკალური პერსონაჟი — მუშა ფუტკარი, რომელიც შემდეგ ეტაპებზეც გაჰყვება.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5"/>
          <p:cNvSpPr txBox="1"/>
          <p:nvPr/>
        </p:nvSpPr>
        <p:spPr>
          <a:xfrm>
            <a:off x="744350" y="2158999"/>
            <a:ext cx="47106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ეკო-წინსაფრები და თამაში „მუშა ფუტკარი“.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სკის იერარქია და განვითარების ეტაპები.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sz="1550">
              <a:solidFill>
                <a:srgbClr val="475569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410980" y="2178034"/>
            <a:ext cx="20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5"/>
          <p:cNvSpPr txBox="1"/>
          <p:nvPr/>
        </p:nvSpPr>
        <p:spPr>
          <a:xfrm>
            <a:off x="868975" y="4622952"/>
            <a:ext cx="282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Arial"/>
              <a:buNone/>
            </a:pPr>
            <a:r>
              <a:t/>
            </a:r>
            <a:endParaRPr b="0" i="0" sz="18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5"/>
          <p:cNvSpPr txBox="1"/>
          <p:nvPr/>
        </p:nvSpPr>
        <p:spPr>
          <a:xfrm>
            <a:off x="6238875" y="571500"/>
            <a:ext cx="519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14:00 - 15:00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762000" y="121920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gemini.google.com/9db28797-9f73-42b6-a45e-44afd6375730" id="352" name="Google Shape;352;p25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53" name="Google Shape;3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8150" y="3395900"/>
            <a:ext cx="4812025" cy="30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 txBox="1"/>
          <p:nvPr/>
        </p:nvSpPr>
        <p:spPr>
          <a:xfrm>
            <a:off x="1482483" y="4016752"/>
            <a:ext cx="4448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აქტივობა </a:t>
            </a:r>
            <a:r>
              <a:rPr b="1" lang="en-US" sz="1700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r>
              <a:rPr b="1" i="0" lang="en-US" sz="1700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: </a:t>
            </a:r>
            <a:r>
              <a:rPr b="1" lang="en-US" sz="1700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ციფრული მკვლევარები</a:t>
            </a:r>
            <a:endParaRPr b="0" i="0" sz="13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1482483" y="4547422"/>
            <a:ext cx="423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3"/>
              <a:buFont typeface="Arial"/>
              <a:buNone/>
            </a:pPr>
            <a:r>
              <a:rPr i="0" lang="en-US" sz="1133" u="none" cap="none" strike="noStrike">
                <a:solidFill>
                  <a:srgbClr val="47556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პროცესი:</a:t>
            </a:r>
            <a:r>
              <a:rPr i="0" lang="en-US" sz="1200" u="none" cap="none" strike="noStrike">
                <a:solidFill>
                  <a:srgbClr val="47556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2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1200">
                <a:solidFill>
                  <a:srgbClr val="47556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ბავშვები სხდებიან კომპიუტერებთან და სახელოსნოს უსაფრთხო, წინასწარ გამზადებულ სივრცეში ეძებენ ულამაზესი ყვავილების ფოტოებს.</a:t>
            </a:r>
            <a:endParaRPr i="0" sz="1200" u="none" cap="none" strike="noStrike">
              <a:solidFill>
                <a:srgbClr val="475569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56" name="Google Shape;356;p25"/>
          <p:cNvSpPr txBox="1"/>
          <p:nvPr/>
        </p:nvSpPr>
        <p:spPr>
          <a:xfrm>
            <a:off x="1554908" y="5426099"/>
            <a:ext cx="4236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3"/>
              <a:buFont typeface="Arial"/>
              <a:buNone/>
            </a:pPr>
            <a:r>
              <a:rPr b="1" i="0" lang="en-US" sz="1133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შედეგი:</a:t>
            </a:r>
            <a:r>
              <a:rPr i="0" lang="en-US" sz="1133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</a:t>
            </a:r>
            <a:r>
              <a:rPr lang="en-US" sz="1483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</a:t>
            </a:r>
            <a:r>
              <a:rPr lang="en-US" sz="1200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არჩეული ფოტო ინახება, რათა მეოთხე ეტაპზე პლასტილინის ფუტკარი ციფრულად „გავაცოცხლოთ“ ამ გარემოში.</a:t>
            </a:r>
            <a:endParaRPr i="0" sz="1200" u="none" cap="none" strike="noStrike">
              <a:solidFill>
                <a:srgbClr val="475569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357" name="Google Shape;357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72697" y="2596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514725"/>
            <a:ext cx="1143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58475" y="5715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6"/>
          <p:cNvSpPr txBox="1"/>
          <p:nvPr/>
        </p:nvSpPr>
        <p:spPr>
          <a:xfrm>
            <a:off x="762000" y="2428875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495300" y="280035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ფუტკრები და მცენარეები — დამტვერვა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3238500" y="3762375"/>
            <a:ext cx="5715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ინტერაქციული თეორია ნექტარზე, მცენარეთა გამრავლებაზე და დიდი, მკვეთრი ფერის ყვავილების შექმნაზე.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8" name="Google Shape;36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01150" y="6057900"/>
            <a:ext cx="657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82300" y="6057900"/>
            <a:ext cx="647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6"/>
          <p:cNvSpPr txBox="1"/>
          <p:nvPr/>
        </p:nvSpPr>
        <p:spPr>
          <a:xfrm>
            <a:off x="762000" y="571500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მეორე ეტაპი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</a:t>
            </a:r>
            <a:r>
              <a:rPr b="1" i="0" lang="en-US" sz="1200" u="none" cap="none" strike="noStrike">
                <a:solidFill>
                  <a:srgbClr val="10B98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60 წუთი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762000" y="885825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28850"/>
            <a:ext cx="3397299" cy="288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228850"/>
            <a:ext cx="3397299" cy="288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228850"/>
            <a:ext cx="3459781" cy="288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1219200" y="571500"/>
            <a:ext cx="52407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დამტვერვის ჯადოსნური ციკლი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5" name="Google Shape;385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95312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01150" y="6057900"/>
            <a:ext cx="657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012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782300" y="6057900"/>
            <a:ext cx="647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151012" y="253365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7"/>
          <p:cNvSpPr txBox="1"/>
          <p:nvPr/>
        </p:nvSpPr>
        <p:spPr>
          <a:xfrm>
            <a:off x="1560461" y="3171824"/>
            <a:ext cx="180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ნექტარი &amp; მტვერი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1019175" y="3686175"/>
            <a:ext cx="2883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ვხსნით, როგორ ეწებება მტვერი ფუტკრის ბუსუსებს, როგორ გადააქვს სხვა მცენარეზე და რატომ არის ეს აუცილებელი სიცოცხლისთვის.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4" name="Google Shape;394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786437" y="253365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7"/>
          <p:cNvSpPr txBox="1"/>
          <p:nvPr/>
        </p:nvSpPr>
        <p:spPr>
          <a:xfrm>
            <a:off x="5150881" y="3171824"/>
            <a:ext cx="189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საყვარელი ყვავილი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7"/>
          <p:cNvSpPr txBox="1"/>
          <p:nvPr/>
        </p:nvSpPr>
        <p:spPr>
          <a:xfrm>
            <a:off x="4654599" y="3686175"/>
            <a:ext cx="2883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ბავშვები ფერადი მუყაოსგან და გოფრირებული ქაღალდისგან აწყობენ დიდ ყვავილს. გულში აყრიან ყვითელ ქვიშას (სიმბოლური მტვერი).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7" name="Google Shape;397;p2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421862" y="253365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7"/>
          <p:cNvSpPr txBox="1"/>
          <p:nvPr/>
        </p:nvSpPr>
        <p:spPr>
          <a:xfrm>
            <a:off x="8931324" y="3186178"/>
            <a:ext cx="1600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სიუჟეტის-სცენარის შექმნა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7"/>
          <p:cNvSpPr txBox="1"/>
          <p:nvPr/>
        </p:nvSpPr>
        <p:spPr>
          <a:xfrm>
            <a:off x="8290024" y="3686175"/>
            <a:ext cx="2883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პლასტილინის ფუტკრები "მიფრინავენ" ყვავილებთან, სვამენ ნექტარს და მათ ფეხებზე სიმბოლურად ეწებებათ ყვითელი მტვერი.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00" name="Google Shape;400;p2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327225" y="27098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962650" y="27098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564737" y="27098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7"/>
          <p:cNvSpPr txBox="1"/>
          <p:nvPr/>
        </p:nvSpPr>
        <p:spPr>
          <a:xfrm>
            <a:off x="6210300" y="571500"/>
            <a:ext cx="521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15:00 - 16:00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762000" y="121920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2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8"/>
          <p:cNvSpPr txBox="1"/>
          <p:nvPr/>
        </p:nvSpPr>
        <p:spPr>
          <a:xfrm>
            <a:off x="1266825" y="337707"/>
            <a:ext cx="35805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მხიარული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შესვენება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2" name="Google Shape;41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5312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8"/>
          <p:cNvSpPr txBox="1"/>
          <p:nvPr/>
        </p:nvSpPr>
        <p:spPr>
          <a:xfrm>
            <a:off x="2047875" y="3019425"/>
            <a:ext cx="809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45309"/>
                </a:solidFill>
                <a:latin typeface="Comfortaa"/>
                <a:ea typeface="Comfortaa"/>
                <a:cs typeface="Comfortaa"/>
                <a:sym typeface="Comfortaa"/>
              </a:rPr>
              <a:t>„ფუსფუსა შესვენება — ჩაი, თაფლი და ცეკვა“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8"/>
          <p:cNvSpPr txBox="1"/>
          <p:nvPr/>
        </p:nvSpPr>
        <p:spPr>
          <a:xfrm>
            <a:off x="2424112" y="3714750"/>
            <a:ext cx="7343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ბავშვები მიირთმევენ ჩაის თაფლითა და ხილით. ამას მოსდევს თამაში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„ფუტკრების მოცეკვავე ენა“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 — მოძრაობებით ვხსნით სად იმალება „თაფლის ქილა“, რათა სხვებმა იპოვონ.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5" name="Google Shape;41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01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82200" y="6057900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91825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8"/>
          <p:cNvSpPr txBox="1"/>
          <p:nvPr/>
        </p:nvSpPr>
        <p:spPr>
          <a:xfrm>
            <a:off x="4676775" y="571500"/>
            <a:ext cx="675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16:00 - 16:30 (30 წთ)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762000" y="121920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514725"/>
            <a:ext cx="1143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58475" y="5715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9"/>
          <p:cNvSpPr txBox="1"/>
          <p:nvPr/>
        </p:nvSpPr>
        <p:spPr>
          <a:xfrm>
            <a:off x="762000" y="2428875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9"/>
          <p:cNvSpPr txBox="1"/>
          <p:nvPr/>
        </p:nvSpPr>
        <p:spPr>
          <a:xfrm>
            <a:off x="495300" y="280035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პატარა მებაღეები — ყვავილის დათესვა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9"/>
          <p:cNvSpPr txBox="1"/>
          <p:nvPr/>
        </p:nvSpPr>
        <p:spPr>
          <a:xfrm>
            <a:off x="3238500" y="3762375"/>
            <a:ext cx="5715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ეკოლოგიური ცნობიერების ამაღლება, საკუთარი ხელით თიხის ქოთნის მოხატვა და მასში პირველი თესლის ჩარგვა.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33" name="Google Shape;433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01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2200" y="6057900"/>
            <a:ext cx="657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82300" y="6057900"/>
            <a:ext cx="647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9"/>
          <p:cNvSpPr txBox="1"/>
          <p:nvPr/>
        </p:nvSpPr>
        <p:spPr>
          <a:xfrm>
            <a:off x="762000" y="571500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მესამე ეტაპი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</a:t>
            </a: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60 წუთი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762000" y="885825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2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163672" y="2736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712" y="1757362"/>
            <a:ext cx="4586287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0"/>
          <p:cNvSpPr txBox="1"/>
          <p:nvPr/>
        </p:nvSpPr>
        <p:spPr>
          <a:xfrm>
            <a:off x="1265350" y="225150"/>
            <a:ext cx="38406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მებაღეობის ხელოვნება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48" name="Google Shape;44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5312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01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2200" y="6057900"/>
            <a:ext cx="657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82300" y="6057900"/>
            <a:ext cx="647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0"/>
          <p:cNvSpPr txBox="1"/>
          <p:nvPr/>
        </p:nvSpPr>
        <p:spPr>
          <a:xfrm>
            <a:off x="680205" y="1633416"/>
            <a:ext cx="5272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ბუნება და ფუტკარი (15 წთ):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ვსაუბრობთ იმაზე, თუ როგორ უნდა ვიზრუნოთ ბუნებაზე და რატომ არის ყვავილების დარგვა საუკეთესო გზა ფუტკრების დასახმარებლად.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0"/>
          <p:cNvSpPr txBox="1"/>
          <p:nvPr/>
        </p:nvSpPr>
        <p:spPr>
          <a:xfrm>
            <a:off x="680205" y="2867720"/>
            <a:ext cx="5272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ქოთნის მოხატვა (</a:t>
            </a:r>
            <a:r>
              <a:rPr b="1" lang="en-US" sz="1350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</a:t>
            </a:r>
            <a:r>
              <a:rPr b="1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წთ):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თითოეული იღებს თიხის ან პლასტმასის ქოთანს და უფორმებს დიზაინს (ფიჭები, მინდორი). გასაშრობად ვიყენებთ თმის ფენს.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680205" y="3833466"/>
            <a:ext cx="5272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მიწა &amp; თესლი (15 წთ):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ხელთათმანებით, სპეციალური ნიჩბებით ვყრით ნოყიერ მიწას, ვრგავთ ლავანდის ან მზესუმზირის თესლს და ვნამავთ.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346830" y="1635275"/>
            <a:ext cx="20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346830" y="2886770"/>
            <a:ext cx="20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346830" y="3852516"/>
            <a:ext cx="20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0"/>
          <p:cNvSpPr txBox="1"/>
          <p:nvPr/>
        </p:nvSpPr>
        <p:spPr>
          <a:xfrm>
            <a:off x="4876800" y="571500"/>
            <a:ext cx="65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16:30 - 17:30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762000" y="121920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346825" y="4706175"/>
            <a:ext cx="56055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💻 </a:t>
            </a:r>
            <a:r>
              <a:rPr b="1" lang="en-US" sz="1300">
                <a:solidFill>
                  <a:srgbClr val="66666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ტექნოლოგიური ანბანი (20 წთ)</a:t>
            </a:r>
            <a:endParaRPr b="1" sz="1300">
              <a:solidFill>
                <a:srgbClr val="666666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○"/>
            </a:pPr>
            <a:r>
              <a:rPr lang="en-US" sz="1300">
                <a:solidFill>
                  <a:srgbClr val="66666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გარემოს გაცნობა: ბავშვები სიმულატორზე (ეკრანზე) ეცნობიან MakeCode-ის ინტერფეისს.</a:t>
            </a:r>
            <a:endParaRPr sz="1300">
              <a:solidFill>
                <a:srgbClr val="666666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○"/>
            </a:pPr>
            <a:r>
              <a:rPr lang="en-US" sz="1300">
                <a:solidFill>
                  <a:srgbClr val="666666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უნარები: სწავლობენ ბლოკების გადატანას (Drag &amp; Drop), რაც აუცილებელია შემდეგ ეტაპზე „ჭკვიანი ქოთნის“ ასაწყობად.</a:t>
            </a:r>
            <a:endParaRPr sz="1300">
              <a:solidFill>
                <a:srgbClr val="666666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63" name="Google Shape;463;p3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39322" y="-12"/>
            <a:ext cx="1692124" cy="169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52650" y="1854500"/>
            <a:ext cx="5605499" cy="3060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9" name="Google Shape;46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514725"/>
            <a:ext cx="1143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58475" y="5715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1"/>
          <p:cNvSpPr txBox="1"/>
          <p:nvPr/>
        </p:nvSpPr>
        <p:spPr>
          <a:xfrm>
            <a:off x="762000" y="2428875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818CF8"/>
                </a:solidFill>
                <a:latin typeface="Comfortaa"/>
                <a:ea typeface="Comfortaa"/>
                <a:cs typeface="Comfortaa"/>
                <a:sym typeface="Comfortaa"/>
              </a:rPr>
              <a:t>ნაწილი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1"/>
          <p:cNvSpPr txBox="1"/>
          <p:nvPr/>
        </p:nvSpPr>
        <p:spPr>
          <a:xfrm>
            <a:off x="495300" y="280035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დიდი ოჯახი — სკის მაკეტი და ფინალი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3238500" y="3762375"/>
            <a:ext cx="571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კოლექტიური თანამშრომლობა, სკის ერთიანი მაკეტის აწყობა, მშობლების მიღება და საზეიმო სერტიფიცირება.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5" name="Google Shape;47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01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220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63250" y="6057900"/>
            <a:ext cx="666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1"/>
          <p:cNvSpPr txBox="1"/>
          <p:nvPr/>
        </p:nvSpPr>
        <p:spPr>
          <a:xfrm>
            <a:off x="762000" y="571500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Georgian Medium"/>
                <a:ea typeface="Noto Sans Georgian Medium"/>
                <a:cs typeface="Noto Sans Georgian Medium"/>
                <a:sym typeface="Noto Sans Georgian Medium"/>
              </a:rPr>
              <a:t>მეოთხე ეტაპი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</a:t>
            </a:r>
            <a:r>
              <a:rPr b="1" i="0" lang="en-US" sz="1200" u="none" cap="none" strike="noStrike">
                <a:solidFill>
                  <a:srgbClr val="818CF8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60 წუთი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762000" y="885825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3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7" name="Google Shape;48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350" y="1731464"/>
            <a:ext cx="4392270" cy="41378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775" y="1469025"/>
            <a:ext cx="4392275" cy="43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980" y="1485161"/>
            <a:ext cx="4343009" cy="2463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5775" y="1493793"/>
            <a:ext cx="4367506" cy="2476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2"/>
          <p:cNvSpPr txBox="1"/>
          <p:nvPr/>
        </p:nvSpPr>
        <p:spPr>
          <a:xfrm>
            <a:off x="1556550" y="337525"/>
            <a:ext cx="60309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გუნდურობის კულმინაცია &amp; ფინალი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93" name="Google Shape;493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95312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4" name="Google Shape;494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5" name="Google Shape;495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01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8220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63250" y="6057900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3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8980" y="1485149"/>
            <a:ext cx="4343013" cy="186575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2"/>
          <p:cNvSpPr txBox="1"/>
          <p:nvPr/>
        </p:nvSpPr>
        <p:spPr>
          <a:xfrm>
            <a:off x="1011349" y="3533653"/>
            <a:ext cx="3850500" cy="21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b="1" lang="en-US" sz="1422">
                <a:solidFill>
                  <a:schemeClr val="dk1"/>
                </a:solidFill>
              </a:rPr>
              <a:t>კოლექტიური სკის მაკეტის შექმნა:</a:t>
            </a:r>
            <a:r>
              <a:rPr lang="en-US" sz="1422">
                <a:solidFill>
                  <a:schemeClr val="dk1"/>
                </a:solidFill>
              </a:rPr>
              <a:t> ბავშვები ერთობლივად, ყუთზე აწყობენ ექვსკუთხა ფიჭებს. ამის შემდეგ, თითოეული მათგანი პირველ ეტაპზე თავისი ხელით გამოძერწილ პლასტილინის ფუტკარს ამ დიდ, საერთო სკაში ასახლებს, რაც გუნდურობის არსს უსვამს ხაზს. </a:t>
            </a:r>
            <a:endParaRPr b="0" i="0" sz="18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01" name="Google Shape;501;p3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55775" y="1493785"/>
            <a:ext cx="4367497" cy="15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2"/>
          <p:cNvSpPr txBox="1"/>
          <p:nvPr/>
        </p:nvSpPr>
        <p:spPr>
          <a:xfrm>
            <a:off x="6501380" y="3192065"/>
            <a:ext cx="4291500" cy="25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5"/>
              <a:buFont typeface="Arial"/>
              <a:buNone/>
            </a:pPr>
            <a:r>
              <a:rPr b="1" lang="en-US" sz="1430">
                <a:solidFill>
                  <a:schemeClr val="dk1"/>
                </a:solidFill>
              </a:rPr>
              <a:t>გაციფრულება და ზღაპრის გახმოვანება:</a:t>
            </a:r>
            <a:r>
              <a:rPr lang="en-US" sz="1430">
                <a:solidFill>
                  <a:schemeClr val="dk1"/>
                </a:solidFill>
              </a:rPr>
              <a:t> პირველ ნაბიჯზე ინტერნეტში მოძიებულ და შენახულ ყვავილების ფოტოებს ბავშვები იყენებენ იმისათვის, რომ თავიანთი პლასტილინის ფუტკრები ციფრულად „გააცოცხლონ“ ამ გარემოში. პროცესი ასევე მოიცავს შექმნილი პერსონაჟების გაციფრულებასა და საკუთარი ამბის ხმოვან გახმოვანებას. </a:t>
            </a:r>
            <a:endParaRPr b="0" i="0" sz="18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2"/>
          <p:cNvSpPr txBox="1"/>
          <p:nvPr/>
        </p:nvSpPr>
        <p:spPr>
          <a:xfrm>
            <a:off x="7105650" y="571500"/>
            <a:ext cx="432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17:30 - 18:30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3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78975" y="1528274"/>
            <a:ext cx="4321065" cy="186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393775" y="1518075"/>
            <a:ext cx="4367501" cy="157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1" name="Google Shape;51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507" y="2250168"/>
            <a:ext cx="4163149" cy="392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2" name="Google Shape;51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7445" y="1993698"/>
            <a:ext cx="3934984" cy="392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852" y="2016714"/>
            <a:ext cx="4116457" cy="2334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7445" y="2015888"/>
            <a:ext cx="3912794" cy="22189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5" name="Google Shape;51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905500"/>
            <a:ext cx="10668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3"/>
          <p:cNvSpPr txBox="1"/>
          <p:nvPr/>
        </p:nvSpPr>
        <p:spPr>
          <a:xfrm>
            <a:off x="1362075" y="571500"/>
            <a:ext cx="60309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გუნდურობის კულმინაცია &amp; ფინალი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17" name="Google Shape;517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95312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96175" y="6057900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39150" y="6057900"/>
            <a:ext cx="619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0115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82200" y="6057900"/>
            <a:ext cx="638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63250" y="6057900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3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70167" y="2016703"/>
            <a:ext cx="4116458" cy="1768433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3"/>
          <p:cNvSpPr txBox="1"/>
          <p:nvPr/>
        </p:nvSpPr>
        <p:spPr>
          <a:xfrm>
            <a:off x="1103591" y="3937566"/>
            <a:ext cx="36495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1" lang="en-US" sz="1348">
                <a:solidFill>
                  <a:schemeClr val="dk1"/>
                </a:solidFill>
              </a:rPr>
              <a:t>დიდი ფინალი და პრეზენტაცია:</a:t>
            </a:r>
            <a:r>
              <a:rPr lang="en-US" sz="1348">
                <a:solidFill>
                  <a:schemeClr val="dk1"/>
                </a:solidFill>
              </a:rPr>
              <a:t> სივრცეში შემოდიან მშობლები. ბავშვები მათ წინაშე დამოუკიდებლად და თავდაჯერებულად წარადგენენ საკუთარ ნამუშევრებს. დასასრულს, თითოეულ მონაწილეს საზეიმოდ გადაეცემა „პატარა მეფუტკრის“ სერტიფიკატი. </a:t>
            </a:r>
            <a:endParaRPr b="0" i="0" sz="17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25" name="Google Shape;525;p3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67450" y="2015898"/>
            <a:ext cx="3912800" cy="17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3"/>
          <p:cNvSpPr txBox="1"/>
          <p:nvPr/>
        </p:nvSpPr>
        <p:spPr>
          <a:xfrm>
            <a:off x="6989400" y="3937575"/>
            <a:ext cx="34356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1">
                <a:solidFill>
                  <a:schemeClr val="dk1"/>
                </a:solidFill>
              </a:rPr>
              <a:t>გრძელვადიანი „ზაფხულის მისია“:</a:t>
            </a:r>
            <a:r>
              <a:rPr lang="en-US" sz="1481">
                <a:solidFill>
                  <a:schemeClr val="dk1"/>
                </a:solidFill>
              </a:rPr>
              <a:t> ვორქშოფის ბოლოს ბავშვებს ეძლევათ დავალება, სახლში წაიღონ თავიანთი მოხატული და დათესილი ქოთნები, რათა მთელი ზაფხული მოუარონ მცენარეებს. სექტემბერში, სკოლის გახსნისას, მათ ეს უკვე აყვავებული მცენარეები სკოლაში უნდა მიიტანონ. </a:t>
            </a:r>
            <a:endParaRPr sz="1831"/>
          </a:p>
        </p:txBody>
      </p:sp>
      <p:sp>
        <p:nvSpPr>
          <p:cNvPr id="527" name="Google Shape;527;p33"/>
          <p:cNvSpPr txBox="1"/>
          <p:nvPr/>
        </p:nvSpPr>
        <p:spPr>
          <a:xfrm>
            <a:off x="7105650" y="571500"/>
            <a:ext cx="432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18CF8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17:30 - 18:30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762000" y="1219200"/>
            <a:ext cx="10668000" cy="96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3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70175" y="1712925"/>
            <a:ext cx="4116449" cy="20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762200" y="1718850"/>
            <a:ext cx="3934976" cy="20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B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6" name="Google Shape;5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7" name="Google Shape;53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9664" y="1056894"/>
            <a:ext cx="22193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4"/>
          <p:cNvSpPr txBox="1"/>
          <p:nvPr/>
        </p:nvSpPr>
        <p:spPr>
          <a:xfrm>
            <a:off x="3714061" y="1867702"/>
            <a:ext cx="42705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გაქვთ კითხვები?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4"/>
          <p:cNvSpPr txBox="1"/>
          <p:nvPr/>
        </p:nvSpPr>
        <p:spPr>
          <a:xfrm>
            <a:off x="2753703" y="4223771"/>
            <a:ext cx="619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მზად ვართ შემოქმედებითი და საგანმანათლებლო თავგადასავლების ერთად დასაგეგმად.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4"/>
          <p:cNvSpPr txBox="1"/>
          <p:nvPr/>
        </p:nvSpPr>
        <p:spPr>
          <a:xfrm>
            <a:off x="4392003" y="5757319"/>
            <a:ext cx="2914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კონტაქტი: info@ecoproject.ge </a:t>
            </a:r>
            <a:endParaRPr b="1" i="0" sz="1350" u="none" cap="none" strike="noStrike">
              <a:solidFill>
                <a:srgbClr val="1E293B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</a:t>
            </a:r>
            <a:endParaRPr b="1" i="0" sz="1350" u="none" cap="none" strike="noStrike">
              <a:solidFill>
                <a:srgbClr val="1E293B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ტელეფონი: +995 577 101 301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541" name="Google Shape;54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17917" y="5770871"/>
            <a:ext cx="257176" cy="273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2" name="Google Shape;54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17917" y="6209116"/>
            <a:ext cx="257176" cy="26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25097" y="412063"/>
            <a:ext cx="1692124" cy="1692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